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 hasCustomPrompt="1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 hasCustomPrompt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 hasCustomPrompt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 hasCustomPrompt="1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 hasCustomPrompt="1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84" name="Body Level One…"/>
          <p:cNvSpPr txBox="1"/>
          <p:nvPr>
            <p:ph type="body" sz="quarter" idx="1" hasCustomPrompt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»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val 1"/>
          <p:cNvSpPr/>
          <p:nvPr/>
        </p:nvSpPr>
        <p:spPr>
          <a:xfrm>
            <a:off x="8229600" y="1097280"/>
            <a:ext cx="3108961" cy="3108961"/>
          </a:xfrm>
          <a:prstGeom prst="ellipse">
            <a:avLst/>
          </a:prstGeom>
          <a:ln w="19050">
            <a:solidFill>
              <a:srgbClr val="CAE27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Oval 2"/>
          <p:cNvSpPr/>
          <p:nvPr/>
        </p:nvSpPr>
        <p:spPr>
          <a:xfrm>
            <a:off x="8572500" y="1440180"/>
            <a:ext cx="2423161" cy="2423161"/>
          </a:xfrm>
          <a:prstGeom prst="ellipse">
            <a:avLst/>
          </a:prstGeom>
          <a:ln w="19050">
            <a:solidFill>
              <a:srgbClr val="BFCCBE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Oval 3"/>
          <p:cNvSpPr/>
          <p:nvPr/>
        </p:nvSpPr>
        <p:spPr>
          <a:xfrm>
            <a:off x="8915400" y="1783079"/>
            <a:ext cx="1737361" cy="1737361"/>
          </a:xfrm>
          <a:prstGeom prst="ellipse">
            <a:avLst/>
          </a:prstGeom>
          <a:ln w="19050">
            <a:solidFill>
              <a:srgbClr val="CAE27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Oval 4"/>
          <p:cNvSpPr/>
          <p:nvPr/>
        </p:nvSpPr>
        <p:spPr>
          <a:xfrm>
            <a:off x="9258300" y="2125979"/>
            <a:ext cx="1051561" cy="1051561"/>
          </a:xfrm>
          <a:prstGeom prst="ellipse">
            <a:avLst/>
          </a:prstGeom>
          <a:ln w="19050">
            <a:solidFill>
              <a:srgbClr val="BFCCBE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TextBox 5"/>
          <p:cNvSpPr txBox="1"/>
          <p:nvPr/>
        </p:nvSpPr>
        <p:spPr>
          <a:xfrm>
            <a:off x="758951" y="640080"/>
            <a:ext cx="6803137" cy="2326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2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SEMINAR 2 / SEMINAR 1 ASSIGNMENT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713105" y="1325880"/>
            <a:ext cx="6986270" cy="816610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noAutofit/>
          </a:bodyPr>
          <a:lstStyle/>
          <a:p>
            <a:pPr>
              <a:spcBef>
                <a:spcPts val="600"/>
              </a:spcBef>
              <a:defRPr sz="4300" b="1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WILD</a:t>
            </a:r>
            <a:r>
              <a:rPr lang="en-US"/>
              <a:t> </a:t>
            </a:r>
            <a:r>
              <a:t>SIGNAL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713231" y="2457450"/>
            <a:ext cx="6803137" cy="3469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9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Ecology • Sound Art • Experimental Music</a:t>
            </a:r>
          </a:p>
        </p:txBody>
      </p:sp>
      <p:sp>
        <p:nvSpPr>
          <p:cNvPr id="101" name="TextBox 8"/>
          <p:cNvSpPr txBox="1"/>
          <p:nvPr/>
        </p:nvSpPr>
        <p:spPr>
          <a:xfrm>
            <a:off x="689101" y="3199765"/>
            <a:ext cx="6894577" cy="6136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fictional festival in Prague</a:t>
            </a:r>
          </a:p>
          <a:p>
            <a:pPr>
              <a:spcBef>
                <a:spcPts val="600"/>
              </a:spcBef>
              <a:defRPr sz="1600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18–20 June 2027</a:t>
            </a:r>
          </a:p>
        </p:txBody>
      </p:sp>
      <p:sp>
        <p:nvSpPr>
          <p:cNvPr id="102" name="TextBox 9"/>
          <p:cNvSpPr txBox="1"/>
          <p:nvPr/>
        </p:nvSpPr>
        <p:spPr>
          <a:xfrm>
            <a:off x="758951" y="5715000"/>
            <a:ext cx="7260337" cy="2326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2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Festival concept, website UX, data and AI verification</a:t>
            </a:r>
          </a:p>
        </p:txBody>
      </p:sp>
      <p:sp>
        <p:nvSpPr>
          <p:cNvPr id="103" name="TextBox 10"/>
          <p:cNvSpPr txBox="1"/>
          <p:nvPr/>
        </p:nvSpPr>
        <p:spPr>
          <a:xfrm>
            <a:off x="667512" y="6492240"/>
            <a:ext cx="9089136" cy="1945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900" b="1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WILD SIGNAL • SEMINAR 2</a:t>
            </a:r>
          </a:p>
        </p:txBody>
      </p:sp>
      <p:sp>
        <p:nvSpPr>
          <p:cNvPr id="104" name="TextBox 11"/>
          <p:cNvSpPr txBox="1"/>
          <p:nvPr/>
        </p:nvSpPr>
        <p:spPr>
          <a:xfrm>
            <a:off x="11091671" y="6492240"/>
            <a:ext cx="402337" cy="1945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 algn="r">
              <a:spcBef>
                <a:spcPts val="600"/>
              </a:spcBef>
              <a:defRPr sz="9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01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45490" y="4152265"/>
            <a:ext cx="4059555" cy="9518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 upright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Vishant Gohel (xgohv001)</a:t>
            </a:r>
            <a:endParaRPr kumimoji="0" lang="en-US" altLang="en-US" sz="14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Md Zahid Hasan (xhasm026)</a:t>
            </a:r>
            <a:endParaRPr kumimoji="0" lang="en-US" altLang="en-US" sz="14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Kyaw Sithu (xsitk004)</a:t>
            </a:r>
            <a:endParaRPr kumimoji="0" lang="en-US" altLang="en-US" sz="14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1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Davit Tsintskiladze (xtsid001)</a:t>
            </a:r>
            <a:endParaRPr kumimoji="0" lang="en-US" altLang="en-US" sz="14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 txBox="1"/>
          <p:nvPr/>
        </p:nvSpPr>
        <p:spPr>
          <a:xfrm>
            <a:off x="667512" y="320040"/>
            <a:ext cx="10917936" cy="2199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1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02 / FESTIVAL &amp; PURPOSE</a:t>
            </a:r>
          </a:p>
        </p:txBody>
      </p:sp>
      <p:sp>
        <p:nvSpPr>
          <p:cNvPr id="107" name="TextBox 2"/>
          <p:cNvSpPr txBox="1"/>
          <p:nvPr/>
        </p:nvSpPr>
        <p:spPr>
          <a:xfrm>
            <a:off x="667512" y="704087"/>
            <a:ext cx="10917936" cy="4866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2800" b="1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 festival about listening to the natural world</a:t>
            </a:r>
          </a:p>
        </p:txBody>
      </p:sp>
      <p:sp>
        <p:nvSpPr>
          <p:cNvPr id="108" name="TextBox 3"/>
          <p:cNvSpPr txBox="1"/>
          <p:nvPr/>
        </p:nvSpPr>
        <p:spPr>
          <a:xfrm>
            <a:off x="685799" y="1325880"/>
            <a:ext cx="10735058" cy="2707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WILD SIGNAL is fictional; the venue names are part of our concept.</a:t>
            </a:r>
          </a:p>
        </p:txBody>
      </p:sp>
      <p:sp>
        <p:nvSpPr>
          <p:cNvPr id="109" name="TextBox 4"/>
          <p:cNvSpPr txBox="1"/>
          <p:nvPr/>
        </p:nvSpPr>
        <p:spPr>
          <a:xfrm>
            <a:off x="667512" y="6492240"/>
            <a:ext cx="9089136" cy="1945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900" b="1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WILD SIGNAL • SEMINAR 2</a:t>
            </a:r>
          </a:p>
        </p:txBody>
      </p:sp>
      <p:sp>
        <p:nvSpPr>
          <p:cNvPr id="110" name="TextBox 5"/>
          <p:cNvSpPr txBox="1"/>
          <p:nvPr/>
        </p:nvSpPr>
        <p:spPr>
          <a:xfrm>
            <a:off x="11091671" y="6492240"/>
            <a:ext cx="402337" cy="1945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 algn="r">
              <a:spcBef>
                <a:spcPts val="600"/>
              </a:spcBef>
              <a:defRPr sz="9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02</a:t>
            </a:r>
          </a:p>
        </p:txBody>
      </p:sp>
      <p:sp>
        <p:nvSpPr>
          <p:cNvPr id="111" name="Rounded Rectangle 6"/>
          <p:cNvSpPr/>
          <p:nvPr/>
        </p:nvSpPr>
        <p:spPr>
          <a:xfrm>
            <a:off x="731519" y="1965960"/>
            <a:ext cx="3429001" cy="2971801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Rectangle 7"/>
          <p:cNvSpPr/>
          <p:nvPr/>
        </p:nvSpPr>
        <p:spPr>
          <a:xfrm>
            <a:off x="731519" y="2103120"/>
            <a:ext cx="64009" cy="2697481"/>
          </a:xfrm>
          <a:prstGeom prst="rect">
            <a:avLst/>
          </a:prstGeom>
          <a:solidFill>
            <a:srgbClr val="CAE270"/>
          </a:solidFill>
          <a:ln>
            <a:solidFill>
              <a:srgbClr val="CAE27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TextBox 8"/>
          <p:cNvSpPr txBox="1"/>
          <p:nvPr/>
        </p:nvSpPr>
        <p:spPr>
          <a:xfrm>
            <a:off x="960120" y="2121407"/>
            <a:ext cx="3008376" cy="2961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6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THE FESTIVAL</a:t>
            </a:r>
          </a:p>
        </p:txBody>
      </p:sp>
      <p:sp>
        <p:nvSpPr>
          <p:cNvPr id="114" name="TextBox 9"/>
          <p:cNvSpPr txBox="1"/>
          <p:nvPr/>
        </p:nvSpPr>
        <p:spPr>
          <a:xfrm>
            <a:off x="960119" y="2560320"/>
            <a:ext cx="2990090" cy="10200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6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 three-day festival combining ecology, sound art, field recording, experimental music, and environmental storytelling.</a:t>
            </a:r>
          </a:p>
        </p:txBody>
      </p:sp>
      <p:sp>
        <p:nvSpPr>
          <p:cNvPr id="115" name="Rounded Rectangle 10"/>
          <p:cNvSpPr/>
          <p:nvPr/>
        </p:nvSpPr>
        <p:spPr>
          <a:xfrm>
            <a:off x="4389120" y="1965960"/>
            <a:ext cx="3429001" cy="2971801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Rectangle 11"/>
          <p:cNvSpPr/>
          <p:nvPr/>
        </p:nvSpPr>
        <p:spPr>
          <a:xfrm>
            <a:off x="4389120" y="2103120"/>
            <a:ext cx="64009" cy="2697481"/>
          </a:xfrm>
          <a:prstGeom prst="rect">
            <a:avLst/>
          </a:prstGeom>
          <a:solidFill>
            <a:srgbClr val="EB9D69"/>
          </a:solidFill>
          <a:ln>
            <a:solidFill>
              <a:srgbClr val="EB9D6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TextBox 12"/>
          <p:cNvSpPr txBox="1"/>
          <p:nvPr/>
        </p:nvSpPr>
        <p:spPr>
          <a:xfrm>
            <a:off x="4617720" y="2121407"/>
            <a:ext cx="3008376" cy="2961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600" b="1">
                <a:solidFill>
                  <a:srgbClr val="EB9D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THE WEBSITE</a:t>
            </a:r>
          </a:p>
        </p:txBody>
      </p:sp>
      <p:sp>
        <p:nvSpPr>
          <p:cNvPr id="118" name="TextBox 13"/>
          <p:cNvSpPr txBox="1"/>
          <p:nvPr/>
        </p:nvSpPr>
        <p:spPr>
          <a:xfrm>
            <a:off x="4617720" y="2560320"/>
            <a:ext cx="2990089" cy="10200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6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Help visitors discover events, explore performers and stages, find practical information, and plan their festival day.</a:t>
            </a:r>
          </a:p>
        </p:txBody>
      </p:sp>
      <p:sp>
        <p:nvSpPr>
          <p:cNvPr id="119" name="Rounded Rectangle 14"/>
          <p:cNvSpPr/>
          <p:nvPr/>
        </p:nvSpPr>
        <p:spPr>
          <a:xfrm>
            <a:off x="8046719" y="1965960"/>
            <a:ext cx="3429001" cy="2971801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Rectangle 15"/>
          <p:cNvSpPr/>
          <p:nvPr/>
        </p:nvSpPr>
        <p:spPr>
          <a:xfrm>
            <a:off x="8046719" y="2103120"/>
            <a:ext cx="64009" cy="2697481"/>
          </a:xfrm>
          <a:prstGeom prst="rect">
            <a:avLst/>
          </a:prstGeom>
          <a:solidFill>
            <a:srgbClr val="CAE270"/>
          </a:solidFill>
          <a:ln>
            <a:solidFill>
              <a:srgbClr val="CAE27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16"/>
          <p:cNvSpPr txBox="1"/>
          <p:nvPr/>
        </p:nvSpPr>
        <p:spPr>
          <a:xfrm>
            <a:off x="8275319" y="2121407"/>
            <a:ext cx="3008377" cy="2961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6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THE SETTING</a:t>
            </a:r>
          </a:p>
        </p:txBody>
      </p:sp>
      <p:sp>
        <p:nvSpPr>
          <p:cNvPr id="122" name="TextBox 17"/>
          <p:cNvSpPr txBox="1"/>
          <p:nvPr/>
        </p:nvSpPr>
        <p:spPr>
          <a:xfrm>
            <a:off x="8275319" y="2560320"/>
            <a:ext cx="2990089" cy="9692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5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Prague, 18–20 June 2027. Two fictional spaces: River Stage at Riverside Pavilion and Canopy Lab at the Old Greenhouse.</a:t>
            </a:r>
          </a:p>
        </p:txBody>
      </p:sp>
      <p:sp>
        <p:nvSpPr>
          <p:cNvPr id="123" name="TextBox 18"/>
          <p:cNvSpPr txBox="1"/>
          <p:nvPr/>
        </p:nvSpPr>
        <p:spPr>
          <a:xfrm>
            <a:off x="941831" y="5349240"/>
            <a:ext cx="10277858" cy="3088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 algn="ctr">
              <a:spcBef>
                <a:spcPts val="600"/>
              </a:spcBef>
              <a:defRPr sz="1700" b="1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Main UX goal: make relevant information easy to find and understand.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 txBox="1"/>
          <p:nvPr/>
        </p:nvSpPr>
        <p:spPr>
          <a:xfrm>
            <a:off x="667512" y="320040"/>
            <a:ext cx="10917936" cy="2199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1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03 / TARGET GROUPS</a:t>
            </a:r>
          </a:p>
        </p:txBody>
      </p:sp>
      <p:sp>
        <p:nvSpPr>
          <p:cNvPr id="126" name="TextBox 2"/>
          <p:cNvSpPr txBox="1"/>
          <p:nvPr/>
        </p:nvSpPr>
        <p:spPr>
          <a:xfrm>
            <a:off x="667512" y="704087"/>
            <a:ext cx="10917936" cy="4866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2800" b="1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Different visitors, different information needs</a:t>
            </a:r>
          </a:p>
        </p:txBody>
      </p:sp>
      <p:sp>
        <p:nvSpPr>
          <p:cNvPr id="127" name="TextBox 3"/>
          <p:cNvSpPr txBox="1"/>
          <p:nvPr/>
        </p:nvSpPr>
        <p:spPr>
          <a:xfrm>
            <a:off x="685799" y="1325880"/>
            <a:ext cx="10735058" cy="2707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The website should support quick decisions as well as exploration.</a:t>
            </a:r>
          </a:p>
        </p:txBody>
      </p:sp>
      <p:sp>
        <p:nvSpPr>
          <p:cNvPr id="128" name="TextBox 4"/>
          <p:cNvSpPr txBox="1"/>
          <p:nvPr/>
        </p:nvSpPr>
        <p:spPr>
          <a:xfrm>
            <a:off x="667512" y="6492240"/>
            <a:ext cx="9089136" cy="1945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900" b="1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WILD SIGNAL • SEMINAR 2</a:t>
            </a:r>
          </a:p>
        </p:txBody>
      </p:sp>
      <p:sp>
        <p:nvSpPr>
          <p:cNvPr id="129" name="TextBox 5"/>
          <p:cNvSpPr txBox="1"/>
          <p:nvPr/>
        </p:nvSpPr>
        <p:spPr>
          <a:xfrm>
            <a:off x="11091671" y="6492240"/>
            <a:ext cx="402337" cy="1945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 algn="r">
              <a:spcBef>
                <a:spcPts val="600"/>
              </a:spcBef>
              <a:defRPr sz="9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03</a:t>
            </a:r>
          </a:p>
        </p:txBody>
      </p:sp>
      <p:sp>
        <p:nvSpPr>
          <p:cNvPr id="130" name="Rounded Rectangle 6"/>
          <p:cNvSpPr/>
          <p:nvPr/>
        </p:nvSpPr>
        <p:spPr>
          <a:xfrm>
            <a:off x="914399" y="2032645"/>
            <a:ext cx="3280168" cy="3017754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Rectangle 7"/>
          <p:cNvSpPr/>
          <p:nvPr/>
        </p:nvSpPr>
        <p:spPr>
          <a:xfrm>
            <a:off x="914399" y="2163851"/>
            <a:ext cx="61231" cy="2755342"/>
          </a:xfrm>
          <a:prstGeom prst="rect">
            <a:avLst/>
          </a:prstGeom>
          <a:solidFill>
            <a:srgbClr val="CAE270"/>
          </a:solidFill>
          <a:ln>
            <a:solidFill>
              <a:srgbClr val="CAE27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8"/>
          <p:cNvSpPr txBox="1"/>
          <p:nvPr/>
        </p:nvSpPr>
        <p:spPr>
          <a:xfrm>
            <a:off x="1133077" y="2181346"/>
            <a:ext cx="2877801" cy="283310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6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FESTIVAL VISITORS</a:t>
            </a:r>
          </a:p>
        </p:txBody>
      </p:sp>
      <p:sp>
        <p:nvSpPr>
          <p:cNvPr id="133" name="TextBox 9"/>
          <p:cNvSpPr txBox="1"/>
          <p:nvPr/>
        </p:nvSpPr>
        <p:spPr>
          <a:xfrm>
            <a:off x="1133077" y="2601207"/>
            <a:ext cx="2860307" cy="744963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6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Browse by day and stage, compare events, and plan a personal schedule.</a:t>
            </a:r>
          </a:p>
        </p:txBody>
      </p:sp>
      <p:sp>
        <p:nvSpPr>
          <p:cNvPr id="134" name="Rounded Rectangle 10"/>
          <p:cNvSpPr/>
          <p:nvPr/>
        </p:nvSpPr>
        <p:spPr>
          <a:xfrm>
            <a:off x="4413244" y="2032645"/>
            <a:ext cx="3280168" cy="3017754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Rectangle 11"/>
          <p:cNvSpPr/>
          <p:nvPr/>
        </p:nvSpPr>
        <p:spPr>
          <a:xfrm>
            <a:off x="4413244" y="2163851"/>
            <a:ext cx="61231" cy="2755342"/>
          </a:xfrm>
          <a:prstGeom prst="rect">
            <a:avLst/>
          </a:prstGeom>
          <a:solidFill>
            <a:srgbClr val="EB9D69"/>
          </a:solidFill>
          <a:ln>
            <a:solidFill>
              <a:srgbClr val="EB9D6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12"/>
          <p:cNvSpPr txBox="1"/>
          <p:nvPr/>
        </p:nvSpPr>
        <p:spPr>
          <a:xfrm>
            <a:off x="4631922" y="2181346"/>
            <a:ext cx="2877801" cy="283310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600" b="1">
                <a:solidFill>
                  <a:srgbClr val="EB9D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MUSIC &amp; SOUND ART FANS</a:t>
            </a:r>
          </a:p>
        </p:txBody>
      </p:sp>
      <p:sp>
        <p:nvSpPr>
          <p:cNvPr id="137" name="TextBox 13"/>
          <p:cNvSpPr txBox="1"/>
          <p:nvPr/>
        </p:nvSpPr>
        <p:spPr>
          <a:xfrm>
            <a:off x="4631922" y="2601207"/>
            <a:ext cx="2860307" cy="708517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5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Discover performers, read short descriptions, and find their programme appearances.</a:t>
            </a:r>
          </a:p>
        </p:txBody>
      </p:sp>
      <p:sp>
        <p:nvSpPr>
          <p:cNvPr id="138" name="Rounded Rectangle 14"/>
          <p:cNvSpPr/>
          <p:nvPr/>
        </p:nvSpPr>
        <p:spPr>
          <a:xfrm>
            <a:off x="7912089" y="2032645"/>
            <a:ext cx="3280167" cy="3017754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Rectangle 15"/>
          <p:cNvSpPr/>
          <p:nvPr/>
        </p:nvSpPr>
        <p:spPr>
          <a:xfrm>
            <a:off x="7912089" y="2163851"/>
            <a:ext cx="61230" cy="2755342"/>
          </a:xfrm>
          <a:prstGeom prst="rect">
            <a:avLst/>
          </a:prstGeom>
          <a:solidFill>
            <a:srgbClr val="CAE270"/>
          </a:solidFill>
          <a:ln>
            <a:solidFill>
              <a:srgbClr val="CAE27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16"/>
          <p:cNvSpPr txBox="1"/>
          <p:nvPr/>
        </p:nvSpPr>
        <p:spPr>
          <a:xfrm>
            <a:off x="8130767" y="2181346"/>
            <a:ext cx="2877801" cy="283310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6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FIRST-TIME VISITORS</a:t>
            </a:r>
          </a:p>
        </p:txBody>
      </p:sp>
      <p:sp>
        <p:nvSpPr>
          <p:cNvPr id="141" name="TextBox 17"/>
          <p:cNvSpPr txBox="1"/>
          <p:nvPr/>
        </p:nvSpPr>
        <p:spPr>
          <a:xfrm>
            <a:off x="8130767" y="2601207"/>
            <a:ext cx="2860306" cy="997258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5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Find venue details, dates, access information, and travel guidance.</a:t>
            </a:r>
          </a:p>
        </p:txBody>
      </p:sp>
      <p:sp>
        <p:nvSpPr>
          <p:cNvPr id="142" name="TextBox 18"/>
          <p:cNvSpPr txBox="1"/>
          <p:nvPr/>
        </p:nvSpPr>
        <p:spPr>
          <a:xfrm>
            <a:off x="941831" y="5486400"/>
            <a:ext cx="10277858" cy="2707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 algn="ctr">
              <a:spcBef>
                <a:spcPts val="600"/>
              </a:spcBef>
              <a:defRPr sz="1400" b="1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Design implications: clear labels, useful filters, consistent event details, accessible practical information.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 txBox="1"/>
          <p:nvPr/>
        </p:nvSpPr>
        <p:spPr>
          <a:xfrm>
            <a:off x="667512" y="320040"/>
            <a:ext cx="10917936" cy="2199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1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04 / INFORMATION ARCHITECTURE</a:t>
            </a:r>
          </a:p>
        </p:txBody>
      </p:sp>
      <p:sp>
        <p:nvSpPr>
          <p:cNvPr id="145" name="TextBox 2"/>
          <p:cNvSpPr txBox="1"/>
          <p:nvPr/>
        </p:nvSpPr>
        <p:spPr>
          <a:xfrm>
            <a:off x="667512" y="704087"/>
            <a:ext cx="10917936" cy="4866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2800" b="1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 simple structure organised around visitor tasks</a:t>
            </a:r>
          </a:p>
        </p:txBody>
      </p:sp>
      <p:sp>
        <p:nvSpPr>
          <p:cNvPr id="146" name="TextBox 3"/>
          <p:cNvSpPr txBox="1"/>
          <p:nvPr/>
        </p:nvSpPr>
        <p:spPr>
          <a:xfrm>
            <a:off x="685799" y="1325880"/>
            <a:ext cx="10735058" cy="2707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Main navigation groups content into predictable destinations.</a:t>
            </a:r>
          </a:p>
        </p:txBody>
      </p:sp>
      <p:sp>
        <p:nvSpPr>
          <p:cNvPr id="147" name="TextBox 4"/>
          <p:cNvSpPr txBox="1"/>
          <p:nvPr/>
        </p:nvSpPr>
        <p:spPr>
          <a:xfrm>
            <a:off x="667512" y="6492240"/>
            <a:ext cx="9089136" cy="1945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900" b="1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WILD SIGNAL • SEMINAR 2</a:t>
            </a:r>
          </a:p>
        </p:txBody>
      </p:sp>
      <p:sp>
        <p:nvSpPr>
          <p:cNvPr id="148" name="TextBox 5"/>
          <p:cNvSpPr txBox="1"/>
          <p:nvPr/>
        </p:nvSpPr>
        <p:spPr>
          <a:xfrm>
            <a:off x="11091671" y="6492240"/>
            <a:ext cx="402337" cy="1945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 algn="r">
              <a:spcBef>
                <a:spcPts val="600"/>
              </a:spcBef>
              <a:defRPr sz="9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04</a:t>
            </a:r>
          </a:p>
        </p:txBody>
      </p:sp>
      <p:sp>
        <p:nvSpPr>
          <p:cNvPr id="149" name="Rounded Rectangle 6"/>
          <p:cNvSpPr/>
          <p:nvPr/>
        </p:nvSpPr>
        <p:spPr>
          <a:xfrm>
            <a:off x="1267157" y="1874518"/>
            <a:ext cx="3075028" cy="1708350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Rectangle 7"/>
          <p:cNvSpPr/>
          <p:nvPr/>
        </p:nvSpPr>
        <p:spPr>
          <a:xfrm>
            <a:off x="1267157" y="2079520"/>
            <a:ext cx="95668" cy="1298346"/>
          </a:xfrm>
          <a:prstGeom prst="rect">
            <a:avLst/>
          </a:prstGeom>
          <a:solidFill>
            <a:srgbClr val="CAE270"/>
          </a:solidFill>
          <a:ln>
            <a:solidFill>
              <a:srgbClr val="CAE27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8"/>
          <p:cNvSpPr txBox="1"/>
          <p:nvPr/>
        </p:nvSpPr>
        <p:spPr>
          <a:xfrm>
            <a:off x="1608826" y="2106854"/>
            <a:ext cx="2446357" cy="442653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6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HOME</a:t>
            </a:r>
          </a:p>
        </p:txBody>
      </p:sp>
      <p:sp>
        <p:nvSpPr>
          <p:cNvPr id="152" name="TextBox 9"/>
          <p:cNvSpPr txBox="1"/>
          <p:nvPr/>
        </p:nvSpPr>
        <p:spPr>
          <a:xfrm>
            <a:off x="1608826" y="2762860"/>
            <a:ext cx="2419022" cy="34774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2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Overview &amp; highlights</a:t>
            </a:r>
          </a:p>
        </p:txBody>
      </p:sp>
      <p:sp>
        <p:nvSpPr>
          <p:cNvPr id="153" name="Rounded Rectangle 10"/>
          <p:cNvSpPr/>
          <p:nvPr/>
        </p:nvSpPr>
        <p:spPr>
          <a:xfrm>
            <a:off x="4547186" y="1874518"/>
            <a:ext cx="3075029" cy="1708350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Rectangle 11"/>
          <p:cNvSpPr/>
          <p:nvPr/>
        </p:nvSpPr>
        <p:spPr>
          <a:xfrm>
            <a:off x="4547186" y="2079520"/>
            <a:ext cx="95669" cy="1298346"/>
          </a:xfrm>
          <a:prstGeom prst="rect">
            <a:avLst/>
          </a:prstGeom>
          <a:solidFill>
            <a:srgbClr val="EB9D69"/>
          </a:solidFill>
          <a:ln>
            <a:solidFill>
              <a:srgbClr val="EB9D6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12"/>
          <p:cNvSpPr txBox="1"/>
          <p:nvPr/>
        </p:nvSpPr>
        <p:spPr>
          <a:xfrm>
            <a:off x="4888856" y="2106854"/>
            <a:ext cx="2446356" cy="442653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600" b="1">
                <a:solidFill>
                  <a:srgbClr val="EB9D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PROGRAMME</a:t>
            </a:r>
          </a:p>
        </p:txBody>
      </p:sp>
      <p:sp>
        <p:nvSpPr>
          <p:cNvPr id="156" name="TextBox 13"/>
          <p:cNvSpPr txBox="1"/>
          <p:nvPr/>
        </p:nvSpPr>
        <p:spPr>
          <a:xfrm>
            <a:off x="4888856" y="2762860"/>
            <a:ext cx="2419021" cy="34774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2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Browse by day / stage</a:t>
            </a:r>
          </a:p>
        </p:txBody>
      </p:sp>
      <p:sp>
        <p:nvSpPr>
          <p:cNvPr id="157" name="Rounded Rectangle 14"/>
          <p:cNvSpPr/>
          <p:nvPr/>
        </p:nvSpPr>
        <p:spPr>
          <a:xfrm>
            <a:off x="7827216" y="1874518"/>
            <a:ext cx="3075029" cy="1708350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Rectangle 15"/>
          <p:cNvSpPr/>
          <p:nvPr/>
        </p:nvSpPr>
        <p:spPr>
          <a:xfrm>
            <a:off x="7827216" y="2079520"/>
            <a:ext cx="95669" cy="1298346"/>
          </a:xfrm>
          <a:prstGeom prst="rect">
            <a:avLst/>
          </a:prstGeom>
          <a:solidFill>
            <a:srgbClr val="EB9D69"/>
          </a:solidFill>
          <a:ln>
            <a:solidFill>
              <a:srgbClr val="EB9D6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16"/>
          <p:cNvSpPr txBox="1"/>
          <p:nvPr/>
        </p:nvSpPr>
        <p:spPr>
          <a:xfrm>
            <a:off x="8168885" y="2106854"/>
            <a:ext cx="2446357" cy="442653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600" b="1">
                <a:solidFill>
                  <a:srgbClr val="E0A072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PERFORMERS</a:t>
            </a:r>
          </a:p>
        </p:txBody>
      </p:sp>
      <p:sp>
        <p:nvSpPr>
          <p:cNvPr id="160" name="TextBox 17"/>
          <p:cNvSpPr txBox="1"/>
          <p:nvPr/>
        </p:nvSpPr>
        <p:spPr>
          <a:xfrm>
            <a:off x="8168885" y="2762860"/>
            <a:ext cx="2419022" cy="34774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2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Artist profiles</a:t>
            </a:r>
          </a:p>
        </p:txBody>
      </p:sp>
      <p:sp>
        <p:nvSpPr>
          <p:cNvPr id="161" name="Rounded Rectangle 18"/>
          <p:cNvSpPr/>
          <p:nvPr/>
        </p:nvSpPr>
        <p:spPr>
          <a:xfrm>
            <a:off x="1277056" y="4005302"/>
            <a:ext cx="3075029" cy="1708350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Rectangle 19"/>
          <p:cNvSpPr/>
          <p:nvPr/>
        </p:nvSpPr>
        <p:spPr>
          <a:xfrm>
            <a:off x="1277056" y="4210305"/>
            <a:ext cx="95669" cy="1298345"/>
          </a:xfrm>
          <a:prstGeom prst="rect">
            <a:avLst/>
          </a:prstGeom>
          <a:solidFill>
            <a:srgbClr val="EB9D69"/>
          </a:solidFill>
          <a:ln>
            <a:solidFill>
              <a:srgbClr val="EB9D6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20"/>
          <p:cNvSpPr txBox="1"/>
          <p:nvPr/>
        </p:nvSpPr>
        <p:spPr>
          <a:xfrm>
            <a:off x="1618725" y="4237638"/>
            <a:ext cx="2446356" cy="765341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500" b="1">
                <a:solidFill>
                  <a:srgbClr val="EB9D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STAGES &amp; VENUES</a:t>
            </a:r>
          </a:p>
        </p:txBody>
      </p:sp>
      <p:sp>
        <p:nvSpPr>
          <p:cNvPr id="164" name="TextBox 21"/>
          <p:cNvSpPr txBox="1"/>
          <p:nvPr/>
        </p:nvSpPr>
        <p:spPr>
          <a:xfrm>
            <a:off x="1618725" y="4893644"/>
            <a:ext cx="2419021" cy="34774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2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Location details</a:t>
            </a:r>
          </a:p>
        </p:txBody>
      </p:sp>
      <p:sp>
        <p:nvSpPr>
          <p:cNvPr id="165" name="Rounded Rectangle 22"/>
          <p:cNvSpPr/>
          <p:nvPr/>
        </p:nvSpPr>
        <p:spPr>
          <a:xfrm>
            <a:off x="4557085" y="4005302"/>
            <a:ext cx="3075029" cy="1708350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Rectangle 23"/>
          <p:cNvSpPr/>
          <p:nvPr/>
        </p:nvSpPr>
        <p:spPr>
          <a:xfrm>
            <a:off x="4557085" y="4210305"/>
            <a:ext cx="95669" cy="1298345"/>
          </a:xfrm>
          <a:prstGeom prst="rect">
            <a:avLst/>
          </a:prstGeom>
          <a:solidFill>
            <a:srgbClr val="CAE270"/>
          </a:solidFill>
          <a:ln>
            <a:solidFill>
              <a:srgbClr val="CAE27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24"/>
          <p:cNvSpPr txBox="1"/>
          <p:nvPr/>
        </p:nvSpPr>
        <p:spPr>
          <a:xfrm>
            <a:off x="4898754" y="4237638"/>
            <a:ext cx="2446356" cy="765341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5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PRACTICAL INFO</a:t>
            </a:r>
          </a:p>
        </p:txBody>
      </p:sp>
      <p:sp>
        <p:nvSpPr>
          <p:cNvPr id="168" name="TextBox 25"/>
          <p:cNvSpPr txBox="1"/>
          <p:nvPr/>
        </p:nvSpPr>
        <p:spPr>
          <a:xfrm>
            <a:off x="4898754" y="4893644"/>
            <a:ext cx="2419022" cy="34774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2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Access &amp; travel</a:t>
            </a:r>
          </a:p>
        </p:txBody>
      </p:sp>
      <p:sp>
        <p:nvSpPr>
          <p:cNvPr id="169" name="Rounded Rectangle 30"/>
          <p:cNvSpPr/>
          <p:nvPr/>
        </p:nvSpPr>
        <p:spPr>
          <a:xfrm>
            <a:off x="7837115" y="4005302"/>
            <a:ext cx="3075029" cy="1708350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Rectangle 31"/>
          <p:cNvSpPr/>
          <p:nvPr/>
        </p:nvSpPr>
        <p:spPr>
          <a:xfrm>
            <a:off x="7837115" y="4210304"/>
            <a:ext cx="95668" cy="1298346"/>
          </a:xfrm>
          <a:prstGeom prst="rect">
            <a:avLst/>
          </a:prstGeom>
          <a:solidFill>
            <a:srgbClr val="CAE270"/>
          </a:solidFill>
          <a:ln>
            <a:solidFill>
              <a:srgbClr val="CAE27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TextBox 32"/>
          <p:cNvSpPr txBox="1"/>
          <p:nvPr/>
        </p:nvSpPr>
        <p:spPr>
          <a:xfrm>
            <a:off x="8178786" y="4237637"/>
            <a:ext cx="2371889" cy="442653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>
            <a:lvl1pPr>
              <a:spcBef>
                <a:spcPts val="600"/>
              </a:spcBef>
              <a:defRPr sz="16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ABOUT</a:t>
            </a:r>
          </a:p>
        </p:txBody>
      </p:sp>
      <p:sp>
        <p:nvSpPr>
          <p:cNvPr id="172" name="TextBox 33"/>
          <p:cNvSpPr txBox="1"/>
          <p:nvPr/>
        </p:nvSpPr>
        <p:spPr>
          <a:xfrm>
            <a:off x="8178784" y="4649916"/>
            <a:ext cx="2328949" cy="727378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/>
          <a:lstStyle/>
          <a:p>
            <a:pPr>
              <a:spcBef>
                <a:spcPts val="600"/>
              </a:spcBef>
              <a:defRPr sz="12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Festival concept</a:t>
            </a:r>
          </a:p>
          <a:p>
            <a:pPr>
              <a:spcBef>
                <a:spcPts val="600"/>
              </a:spcBef>
              <a:defRPr sz="12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and background</a:t>
            </a:r>
          </a:p>
        </p:txBody>
      </p:sp>
      <p:sp>
        <p:nvSpPr>
          <p:cNvPr id="173" name="TextBox 34"/>
          <p:cNvSpPr txBox="1"/>
          <p:nvPr/>
        </p:nvSpPr>
        <p:spPr>
          <a:xfrm>
            <a:off x="950721" y="5904063"/>
            <a:ext cx="10277858" cy="2961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 algn="ctr">
              <a:spcBef>
                <a:spcPts val="600"/>
              </a:spcBef>
              <a:defRPr sz="1600" b="1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Use familiar labels and keep navigation consistent across pages.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1"/>
          <p:cNvSpPr txBox="1"/>
          <p:nvPr/>
        </p:nvSpPr>
        <p:spPr>
          <a:xfrm>
            <a:off x="667512" y="320040"/>
            <a:ext cx="10917936" cy="2199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1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05 / TWO KEY SCENARIOS</a:t>
            </a:r>
          </a:p>
        </p:txBody>
      </p:sp>
      <p:sp>
        <p:nvSpPr>
          <p:cNvPr id="176" name="TextBox 2"/>
          <p:cNvSpPr txBox="1"/>
          <p:nvPr/>
        </p:nvSpPr>
        <p:spPr>
          <a:xfrm>
            <a:off x="667512" y="704087"/>
            <a:ext cx="10917936" cy="4866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2800" b="1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Can visitors complete their main tasks?</a:t>
            </a:r>
          </a:p>
        </p:txBody>
      </p:sp>
      <p:sp>
        <p:nvSpPr>
          <p:cNvPr id="177" name="TextBox 3"/>
          <p:cNvSpPr txBox="1"/>
          <p:nvPr/>
        </p:nvSpPr>
        <p:spPr>
          <a:xfrm>
            <a:off x="685799" y="1325880"/>
            <a:ext cx="10735058" cy="2707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Scenarios turn the website structure into concrete usability goals.</a:t>
            </a:r>
          </a:p>
        </p:txBody>
      </p:sp>
      <p:sp>
        <p:nvSpPr>
          <p:cNvPr id="178" name="TextBox 4"/>
          <p:cNvSpPr txBox="1"/>
          <p:nvPr/>
        </p:nvSpPr>
        <p:spPr>
          <a:xfrm>
            <a:off x="667512" y="6492240"/>
            <a:ext cx="9089136" cy="1945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900" b="1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WILD SIGNAL • SEMINAR 2</a:t>
            </a:r>
          </a:p>
        </p:txBody>
      </p:sp>
      <p:sp>
        <p:nvSpPr>
          <p:cNvPr id="179" name="TextBox 5"/>
          <p:cNvSpPr txBox="1"/>
          <p:nvPr/>
        </p:nvSpPr>
        <p:spPr>
          <a:xfrm>
            <a:off x="11091671" y="6492240"/>
            <a:ext cx="402337" cy="1945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 algn="r">
              <a:spcBef>
                <a:spcPts val="600"/>
              </a:spcBef>
              <a:defRPr sz="9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05</a:t>
            </a:r>
          </a:p>
        </p:txBody>
      </p:sp>
      <p:sp>
        <p:nvSpPr>
          <p:cNvPr id="180" name="Rounded Rectangle 6"/>
          <p:cNvSpPr/>
          <p:nvPr/>
        </p:nvSpPr>
        <p:spPr>
          <a:xfrm>
            <a:off x="731519" y="1874518"/>
            <a:ext cx="5212081" cy="3337561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Rectangle 7"/>
          <p:cNvSpPr/>
          <p:nvPr/>
        </p:nvSpPr>
        <p:spPr>
          <a:xfrm>
            <a:off x="731519" y="2011678"/>
            <a:ext cx="64009" cy="3063241"/>
          </a:xfrm>
          <a:prstGeom prst="rect">
            <a:avLst/>
          </a:prstGeom>
          <a:solidFill>
            <a:srgbClr val="CAE270"/>
          </a:solidFill>
          <a:ln>
            <a:solidFill>
              <a:srgbClr val="CAE27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TextBox 8"/>
          <p:cNvSpPr txBox="1"/>
          <p:nvPr/>
        </p:nvSpPr>
        <p:spPr>
          <a:xfrm>
            <a:off x="960119" y="2029966"/>
            <a:ext cx="4791457" cy="2961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6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SCENARIO 1 — FIND AN EVENT</a:t>
            </a:r>
          </a:p>
        </p:txBody>
      </p:sp>
      <p:sp>
        <p:nvSpPr>
          <p:cNvPr id="183" name="TextBox 9"/>
          <p:cNvSpPr txBox="1"/>
          <p:nvPr/>
        </p:nvSpPr>
        <p:spPr>
          <a:xfrm>
            <a:off x="960119" y="2468878"/>
            <a:ext cx="4773169" cy="1662321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User: a visitor planning Saturday.</a:t>
            </a:r>
          </a:p>
          <a:p>
            <a:pPr>
              <a:spcBef>
                <a:spcPts val="600"/>
              </a:spcBef>
              <a:defRPr sz="15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Goal: find an event at River Stage.</a:t>
            </a:r>
          </a:p>
          <a:p>
            <a:pPr>
              <a:spcBef>
                <a:spcPts val="600"/>
              </a:spcBef>
              <a:defRPr sz="15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Path: Programme → choose Saturday → filter River Stage → open an event.</a:t>
            </a:r>
          </a:p>
          <a:p>
            <a:pPr>
              <a:spcBef>
                <a:spcPts val="600"/>
              </a:spcBef>
              <a:defRPr sz="15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Outcome: see event time, performer, stage, and description.</a:t>
            </a:r>
          </a:p>
        </p:txBody>
      </p:sp>
      <p:sp>
        <p:nvSpPr>
          <p:cNvPr id="184" name="Rounded Rectangle 10"/>
          <p:cNvSpPr/>
          <p:nvPr/>
        </p:nvSpPr>
        <p:spPr>
          <a:xfrm>
            <a:off x="6217920" y="1874518"/>
            <a:ext cx="5212080" cy="3337561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Rectangle 11"/>
          <p:cNvSpPr/>
          <p:nvPr/>
        </p:nvSpPr>
        <p:spPr>
          <a:xfrm>
            <a:off x="6217920" y="2011678"/>
            <a:ext cx="64009" cy="3063241"/>
          </a:xfrm>
          <a:prstGeom prst="rect">
            <a:avLst/>
          </a:prstGeom>
          <a:solidFill>
            <a:srgbClr val="EB9D69"/>
          </a:solidFill>
          <a:ln>
            <a:solidFill>
              <a:srgbClr val="EB9D6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TextBox 12"/>
          <p:cNvSpPr txBox="1"/>
          <p:nvPr/>
        </p:nvSpPr>
        <p:spPr>
          <a:xfrm>
            <a:off x="6446520" y="2029966"/>
            <a:ext cx="4791457" cy="2961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600" b="1">
                <a:solidFill>
                  <a:srgbClr val="EB9D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SCENARIO 2 — CHECK ACCESS INFOS</a:t>
            </a:r>
          </a:p>
        </p:txBody>
      </p:sp>
      <p:sp>
        <p:nvSpPr>
          <p:cNvPr id="187" name="TextBox 13"/>
          <p:cNvSpPr txBox="1"/>
          <p:nvPr/>
        </p:nvSpPr>
        <p:spPr>
          <a:xfrm>
            <a:off x="6446520" y="2468878"/>
            <a:ext cx="4773169" cy="1658693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User: visitor with access requirements  </a:t>
            </a:r>
          </a:p>
          <a:p>
            <a:pPr>
              <a:spcBef>
                <a:spcPts val="600"/>
              </a:spcBef>
              <a:defRPr sz="15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Goal: find infos before visiting</a:t>
            </a:r>
          </a:p>
          <a:p>
            <a:pPr>
              <a:spcBef>
                <a:spcPts val="600"/>
              </a:spcBef>
              <a:defRPr sz="15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Path: Home → Practical Information → Accessibility → Stage &amp; Venue Notes</a:t>
            </a:r>
          </a:p>
          <a:p>
            <a:pPr>
              <a:spcBef>
                <a:spcPts val="600"/>
              </a:spcBef>
              <a:defRPr sz="1500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Outcome: visitor finds the accessibility section and stage notes. </a:t>
            </a:r>
          </a:p>
        </p:txBody>
      </p:sp>
      <p:sp>
        <p:nvSpPr>
          <p:cNvPr id="188" name="TextBox 14"/>
          <p:cNvSpPr txBox="1"/>
          <p:nvPr/>
        </p:nvSpPr>
        <p:spPr>
          <a:xfrm>
            <a:off x="941831" y="5577840"/>
            <a:ext cx="10277858" cy="2834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 algn="ctr">
              <a:spcBef>
                <a:spcPts val="600"/>
              </a:spcBef>
              <a:defRPr sz="1500" b="1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Test whether visitors can complete both tasks without help.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 txBox="1"/>
          <p:nvPr/>
        </p:nvSpPr>
        <p:spPr>
          <a:xfrm>
            <a:off x="667512" y="320040"/>
            <a:ext cx="10917936" cy="2199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1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06 / AI USE &amp; VERIFICATION</a:t>
            </a:r>
          </a:p>
        </p:txBody>
      </p:sp>
      <p:sp>
        <p:nvSpPr>
          <p:cNvPr id="191" name="TextBox 2"/>
          <p:cNvSpPr txBox="1"/>
          <p:nvPr/>
        </p:nvSpPr>
        <p:spPr>
          <a:xfrm>
            <a:off x="667512" y="704087"/>
            <a:ext cx="10917936" cy="4866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2800" b="1">
                <a:solidFill>
                  <a:srgbClr val="F7F2E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AI can speed up drafting, but it cannot verify itself</a:t>
            </a:r>
          </a:p>
        </p:txBody>
      </p:sp>
      <p:sp>
        <p:nvSpPr>
          <p:cNvPr id="192" name="TextBox 3"/>
          <p:cNvSpPr txBox="1"/>
          <p:nvPr/>
        </p:nvSpPr>
        <p:spPr>
          <a:xfrm>
            <a:off x="685799" y="1325880"/>
            <a:ext cx="10735058" cy="2707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We treat AI output as a draft and check it before using it.</a:t>
            </a:r>
          </a:p>
        </p:txBody>
      </p:sp>
      <p:sp>
        <p:nvSpPr>
          <p:cNvPr id="193" name="TextBox 4"/>
          <p:cNvSpPr txBox="1"/>
          <p:nvPr/>
        </p:nvSpPr>
        <p:spPr>
          <a:xfrm>
            <a:off x="667512" y="6492240"/>
            <a:ext cx="9089136" cy="1945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900" b="1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WILD SIGNAL • SEMINAR 2</a:t>
            </a:r>
          </a:p>
        </p:txBody>
      </p:sp>
      <p:sp>
        <p:nvSpPr>
          <p:cNvPr id="194" name="TextBox 5"/>
          <p:cNvSpPr txBox="1"/>
          <p:nvPr/>
        </p:nvSpPr>
        <p:spPr>
          <a:xfrm>
            <a:off x="11091671" y="6492240"/>
            <a:ext cx="402337" cy="1945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 algn="r">
              <a:spcBef>
                <a:spcPts val="600"/>
              </a:spcBef>
              <a:defRPr sz="9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06</a:t>
            </a:r>
          </a:p>
        </p:txBody>
      </p:sp>
      <p:sp>
        <p:nvSpPr>
          <p:cNvPr id="195" name="Rounded Rectangle 6"/>
          <p:cNvSpPr/>
          <p:nvPr/>
        </p:nvSpPr>
        <p:spPr>
          <a:xfrm>
            <a:off x="1336213" y="1874519"/>
            <a:ext cx="3429001" cy="3108961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Rectangle 7"/>
          <p:cNvSpPr/>
          <p:nvPr/>
        </p:nvSpPr>
        <p:spPr>
          <a:xfrm>
            <a:off x="1336213" y="2011680"/>
            <a:ext cx="64009" cy="2834641"/>
          </a:xfrm>
          <a:prstGeom prst="rect">
            <a:avLst/>
          </a:prstGeom>
          <a:solidFill>
            <a:srgbClr val="CAE270"/>
          </a:solidFill>
          <a:ln>
            <a:solidFill>
              <a:srgbClr val="CAE27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TextBox 8"/>
          <p:cNvSpPr txBox="1"/>
          <p:nvPr/>
        </p:nvSpPr>
        <p:spPr>
          <a:xfrm>
            <a:off x="1564813" y="2029967"/>
            <a:ext cx="3008377" cy="2961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6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AI HELPED WITH</a:t>
            </a:r>
          </a:p>
        </p:txBody>
      </p:sp>
      <p:sp>
        <p:nvSpPr>
          <p:cNvPr id="198" name="Rounded Rectangle 14"/>
          <p:cNvSpPr/>
          <p:nvPr/>
        </p:nvSpPr>
        <p:spPr>
          <a:xfrm>
            <a:off x="4998797" y="1874519"/>
            <a:ext cx="5844290" cy="3108961"/>
          </a:xfrm>
          <a:prstGeom prst="roundRect">
            <a:avLst>
              <a:gd name="adj" fmla="val 16667"/>
            </a:avLst>
          </a:prstGeom>
          <a:solidFill>
            <a:srgbClr val="1F3A30"/>
          </a:solidFill>
          <a:ln>
            <a:solidFill>
              <a:srgbClr val="1F3A3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Rectangle 15"/>
          <p:cNvSpPr/>
          <p:nvPr/>
        </p:nvSpPr>
        <p:spPr>
          <a:xfrm>
            <a:off x="4998797" y="2011680"/>
            <a:ext cx="64009" cy="2834641"/>
          </a:xfrm>
          <a:prstGeom prst="rect">
            <a:avLst/>
          </a:prstGeom>
          <a:solidFill>
            <a:srgbClr val="CAE270"/>
          </a:solidFill>
          <a:ln>
            <a:solidFill>
              <a:srgbClr val="CAE27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TextBox 16"/>
          <p:cNvSpPr txBox="1"/>
          <p:nvPr/>
        </p:nvSpPr>
        <p:spPr>
          <a:xfrm>
            <a:off x="5227398" y="2029967"/>
            <a:ext cx="3008377" cy="2961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>
              <a:spcBef>
                <a:spcPts val="600"/>
              </a:spcBef>
              <a:defRPr sz="1600" b="1">
                <a:solidFill>
                  <a:srgbClr val="CAE27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HUMAN REVIEW NEEDED</a:t>
            </a:r>
          </a:p>
        </p:txBody>
      </p:sp>
      <p:sp>
        <p:nvSpPr>
          <p:cNvPr id="201" name="TextBox 17"/>
          <p:cNvSpPr txBox="1"/>
          <p:nvPr/>
        </p:nvSpPr>
        <p:spPr>
          <a:xfrm>
            <a:off x="5227398" y="2529840"/>
            <a:ext cx="5524385" cy="21884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/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JSON file is valid and can be read by a computer.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festival has 3 days and 2 stages.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There are 60 performers and 60 programme items.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Each performer and programme item has a unique ID.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Programme items refer to existing performers and stages.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Events at the same stage do not overlap in time.</a:t>
            </a:r>
          </a:p>
        </p:txBody>
      </p:sp>
      <p:sp>
        <p:nvSpPr>
          <p:cNvPr id="202" name="TextBox 18"/>
          <p:cNvSpPr txBox="1"/>
          <p:nvPr/>
        </p:nvSpPr>
        <p:spPr>
          <a:xfrm>
            <a:off x="896112" y="5349240"/>
            <a:ext cx="10460736" cy="5120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>
            <a:lvl1pPr algn="ctr">
              <a:spcBef>
                <a:spcPts val="600"/>
              </a:spcBef>
              <a:defRPr sz="1500" b="1">
                <a:solidFill>
                  <a:srgbClr val="BFCC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Limitation: data checks do not prove content quality or usability. Group review and scenario testing are still needed.</a:t>
            </a:r>
          </a:p>
        </p:txBody>
      </p:sp>
      <p:sp>
        <p:nvSpPr>
          <p:cNvPr id="203" name="TextBox 17"/>
          <p:cNvSpPr txBox="1"/>
          <p:nvPr/>
        </p:nvSpPr>
        <p:spPr>
          <a:xfrm>
            <a:off x="1564814" y="2529840"/>
            <a:ext cx="3008377" cy="664465"/>
          </a:xfrm>
          <a:prstGeom prst="rect">
            <a:avLst/>
          </a:prstGeom>
          <a:ln w="12700">
            <a:miter lim="400000"/>
          </a:ln>
        </p:spPr>
        <p:txBody>
          <a:bodyPr lIns="27432" tIns="27432" rIns="27432" bIns="27432">
            <a:spAutoFit/>
          </a:bodyPr>
          <a:lstStyle/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Drafting fictional content.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Organising JSON.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3198</Words>
  <Application>WPS Presentation</Application>
  <PresentationFormat/>
  <Paragraphs>157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Helvetica Neue</vt:lpstr>
      <vt:lpstr>Arial</vt:lpstr>
      <vt:lpstr>Aptos</vt:lpstr>
      <vt:lpstr>Times Roman</vt:lpstr>
      <vt:lpstr>Times New Roman</vt:lpstr>
      <vt:lpstr>Microsoft YaHei</vt:lpstr>
      <vt:lpstr>汉仪旗黑</vt:lpstr>
      <vt:lpstr>Arial Unicode MS</vt:lpstr>
      <vt:lpstr>Calibri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apple</cp:lastModifiedBy>
  <cp:revision>1</cp:revision>
  <dcterms:created xsi:type="dcterms:W3CDTF">2026-10-19T18:31:26Z</dcterms:created>
  <dcterms:modified xsi:type="dcterms:W3CDTF">2026-10-19T18:31:26Z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A0568D77228858CAFE61D66AD30EA358_42</vt:lpwstr>
  </property>
  <property fmtid="{D5CDD505-2E9C-101B-9397-08002B2CF9AE}" pid="3" name="KSOProductBuildVer">
    <vt:lpwstr>1033-12.1.28496.28496</vt:lpwstr>
  </property>
</Properties>
</file>